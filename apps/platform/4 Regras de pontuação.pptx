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9" r:id="rId2"/>
    <p:sldId id="300" r:id="rId3"/>
    <p:sldId id="301" r:id="rId4"/>
    <p:sldId id="304" r:id="rId5"/>
    <p:sldId id="305" r:id="rId6"/>
    <p:sldId id="292" r:id="rId7"/>
    <p:sldId id="297" r:id="rId8"/>
    <p:sldId id="293" r:id="rId9"/>
    <p:sldId id="296" r:id="rId10"/>
    <p:sldId id="295" r:id="rId11"/>
    <p:sldId id="306" r:id="rId12"/>
    <p:sldId id="307" r:id="rId13"/>
  </p:sldIdLst>
  <p:sldSz cx="12192000" cy="6858000"/>
  <p:notesSz cx="6797675" cy="9928225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FAFC"/>
    <a:srgbClr val="388600"/>
    <a:srgbClr val="000066"/>
    <a:srgbClr val="00204F"/>
    <a:srgbClr val="227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132" autoAdjust="0"/>
  </p:normalViewPr>
  <p:slideViewPr>
    <p:cSldViewPr snapToGrid="0">
      <p:cViewPr varScale="1">
        <p:scale>
          <a:sx n="78" d="100"/>
          <a:sy n="78" d="100"/>
        </p:scale>
        <p:origin x="8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6B47D-B0A2-4F56-A6BE-DA50786FDB4B}" type="datetimeFigureOut">
              <a:rPr lang="pt-BR" smtClean="0"/>
              <a:t>09/06/2026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B5F12E-C058-4539-9732-64C5ACBBDF4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1396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5F12E-C058-4539-9732-64C5ACBBDF45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8985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A7791-9D28-FF7B-3E82-A7BE261D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49A4187-D5BC-E889-CE81-EF5ABDE6F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E4AD01-4E67-15DD-069C-4A060CBFB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4D4880-E5C8-C413-9081-C0DDB41DD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5F12E-C058-4539-9732-64C5ACBBDF45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4510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4B421-7576-DFD0-91FF-BF9E8788A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41B7FB-0676-79AB-12F6-4B8181E83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C825754-5B25-C20B-1E1D-F216191AB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197607-B6C9-5F7A-08D8-84D449951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5F12E-C058-4539-9732-64C5ACBBDF45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5001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B527E-D64F-8471-9B2A-79B15D4BB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BD402C-3E8D-EDEB-AB78-586A26128D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267B87-7334-C26F-279D-04DE6BE8E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7E6C-B10D-4E98-A0AE-879C0E548AB7}" type="datetimeFigureOut">
              <a:rPr lang="pt-BR" smtClean="0"/>
              <a:t>09/06/2026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DABC1E-3EC8-C8F7-4274-302FE62A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E6BD46-6991-B00D-A1DD-DEEA1B79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6EE0-C1BD-46AC-87FF-5B4D570D060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1203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457B5-733B-77F9-4DCF-6E640BF5B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45DA98-6352-EA74-454E-BD0286057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6CD8B0-6DCC-3E07-7A6E-8F8EB4488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7E6C-B10D-4E98-A0AE-879C0E548AB7}" type="datetimeFigureOut">
              <a:rPr lang="pt-BR" smtClean="0"/>
              <a:t>09/06/2026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07441C-469C-F7D1-ABA7-E66F6B8A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2C7A4A-915B-FE7A-54E0-6E80D0075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6EE0-C1BD-46AC-87FF-5B4D570D060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9647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C0C11-B8F1-CFB3-F538-AF26144C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70A7A2-98E5-2AF2-C12D-50496340E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7CA919-933C-B8FA-AE14-0351C8518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7E6C-B10D-4E98-A0AE-879C0E548AB7}" type="datetimeFigureOut">
              <a:rPr lang="pt-BR" smtClean="0"/>
              <a:t>09/06/2026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27F8EF-5F76-0728-89BB-56D676BE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6C57FC-C990-9D2C-1718-373EEA444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6EE0-C1BD-46AC-87FF-5B4D570D060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1466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03E4C-AF48-66B7-F792-417B3BF35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1154F5-061F-E9FE-9D08-40E6C84E3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CFC4E6-5BA0-BC52-8BC1-CCEF1CF1F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35136A-F9CE-989D-A6D5-3AFFED2C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7E6C-B10D-4E98-A0AE-879C0E548AB7}" type="datetimeFigureOut">
              <a:rPr lang="pt-BR" smtClean="0"/>
              <a:t>09/06/2026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4B0179-BC8F-E9C9-426C-4698C3D93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880B12-D6DF-615B-5B7A-99354AFD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6EE0-C1BD-46AC-87FF-5B4D570D060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1450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88809-2123-BEB4-4D76-95A5A6981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9951F0-6F06-529C-B0C0-6140EB836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3D4479E-1EBF-03DB-C767-1EC5DBAD2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57A160-92FD-557F-3406-989A2D252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983CC67-0DB0-A7DA-7545-093DB64F9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69D5E35-70AD-5EB7-02A3-D0971897B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7E6C-B10D-4E98-A0AE-879C0E548AB7}" type="datetimeFigureOut">
              <a:rPr lang="pt-BR" smtClean="0"/>
              <a:t>09/06/2026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830717-F5EA-AFA6-9A06-D2B82A9C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860BFCE-F6A8-CF99-B39C-B8D76901E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6EE0-C1BD-46AC-87FF-5B4D570D060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199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4CB8F-FAEE-62B7-621A-4ECE596CD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0CC0BAD-B9B2-E3F6-0080-AF60D59E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7E6C-B10D-4E98-A0AE-879C0E548AB7}" type="datetimeFigureOut">
              <a:rPr lang="pt-BR" smtClean="0"/>
              <a:t>09/06/2026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9988AC-6D0C-29C5-88CC-105881CB3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139366-B30C-720E-E2F7-5CA27AF0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6EE0-C1BD-46AC-87FF-5B4D570D060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1203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DB5FB5A-FEFD-BE40-DA81-4C01DBEAF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7E6C-B10D-4E98-A0AE-879C0E548AB7}" type="datetimeFigureOut">
              <a:rPr lang="pt-BR" smtClean="0"/>
              <a:t>09/06/2026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DCFFD05-DE05-C5EE-C59A-F7FD545F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E9C118-D834-64E7-6A1E-3957C8D5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6EE0-C1BD-46AC-87FF-5B4D570D060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9271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2C26B-F1AE-8665-9D31-B13EAEC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4D89FF-EC14-AB87-3FFA-9465A86CE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F616013-F563-377E-3F89-1B04E4B89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968F99-62EC-21CC-2D80-D789797B0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7E6C-B10D-4E98-A0AE-879C0E548AB7}" type="datetimeFigureOut">
              <a:rPr lang="pt-BR" smtClean="0"/>
              <a:t>09/06/2026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8DADC1-544F-319C-E159-ACD85884C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829E96-1B6A-B966-242E-46681D95C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6EE0-C1BD-46AC-87FF-5B4D570D060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1318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A1A6E-A752-4C06-293D-5A074D150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1238CE-31B1-B114-7C2D-79E332894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15D638-8A91-4663-949D-471CB26EA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2D8573-3955-01C0-CF77-9B3E22E68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7E6C-B10D-4E98-A0AE-879C0E548AB7}" type="datetimeFigureOut">
              <a:rPr lang="pt-BR" smtClean="0"/>
              <a:t>09/06/2026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F047F2-91F4-1194-2687-DF1C8FAAC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0EE549-EC01-C78B-31E8-8099041B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6EE0-C1BD-46AC-87FF-5B4D570D060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936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D8CD0-58D5-328F-6F67-F0F025FAF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A5A686C-293A-9AF6-C3BC-7757DECD0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D860BC-4803-50E4-9E82-095DC291C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7E6C-B10D-4E98-A0AE-879C0E548AB7}" type="datetimeFigureOut">
              <a:rPr lang="pt-BR" smtClean="0"/>
              <a:t>09/06/2026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71E46F-6117-07BE-5A57-00407CE9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D24F55-6BAE-4B06-A8E2-DF76FD34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6EE0-C1BD-46AC-87FF-5B4D570D060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686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A3C031-38DC-E681-6D35-1EAC5C4A3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BD72B91-E81E-CA99-D0F3-9D76290C1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D47561-F002-EF55-BFEA-3375050B7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7E6C-B10D-4E98-A0AE-879C0E548AB7}" type="datetimeFigureOut">
              <a:rPr lang="pt-BR" smtClean="0"/>
              <a:t>09/06/2026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68D45A-C9DF-3894-D85D-617603AAF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49BCD8-F554-9934-4668-2EDC3DF82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86EE0-C1BD-46AC-87FF-5B4D570D060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742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DEC9130-29B8-5532-96A8-873167796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A6B275-7903-92C3-5A01-0959C2DAE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1598FF-4B77-AC16-2D2E-13A647AD81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07E6C-B10D-4E98-A0AE-879C0E548AB7}" type="datetimeFigureOut">
              <a:rPr lang="pt-BR" smtClean="0"/>
              <a:t>09/06/2026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25AA0E-75AF-F9FE-606E-6ECEC61F4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4DB4D9-8C91-7D02-BDD2-9C0EDAC6B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86EE0-C1BD-46AC-87FF-5B4D570D060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2542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06245CB-634B-DD33-CF6A-18A3DCD0A2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67" b="5519"/>
          <a:stretch>
            <a:fillRect/>
          </a:stretch>
        </p:blipFill>
        <p:spPr>
          <a:xfrm>
            <a:off x="1632155" y="522093"/>
            <a:ext cx="9448800" cy="42367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00D2AA2-9653-E6D3-E00D-A011CD338FCA}"/>
              </a:ext>
            </a:extLst>
          </p:cNvPr>
          <p:cNvSpPr txBox="1"/>
          <p:nvPr/>
        </p:nvSpPr>
        <p:spPr>
          <a:xfrm flipH="1">
            <a:off x="4450571" y="3033251"/>
            <a:ext cx="6374745" cy="11387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sz="1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13000E-88B6-4980-64CC-D0B2C25D557A}"/>
              </a:ext>
            </a:extLst>
          </p:cNvPr>
          <p:cNvSpPr txBox="1"/>
          <p:nvPr/>
        </p:nvSpPr>
        <p:spPr>
          <a:xfrm>
            <a:off x="3714872" y="5087452"/>
            <a:ext cx="7846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ELIMINAR O TOPICO INTEIRO DAS CONFIABILIDADES DOS FABRICANTES E DISTRIBUIDORAS</a:t>
            </a:r>
          </a:p>
        </p:txBody>
      </p:sp>
    </p:spTree>
    <p:extLst>
      <p:ext uri="{BB962C8B-B14F-4D97-AF65-F5344CB8AC3E}">
        <p14:creationId xmlns:p14="http://schemas.microsoft.com/office/powerpoint/2010/main" val="3416493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C8CD5-BB64-507B-5476-6228B31A1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6A2A11A-0867-527E-183B-335D9CE0DA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80" b="5089"/>
          <a:stretch>
            <a:fillRect/>
          </a:stretch>
        </p:blipFill>
        <p:spPr>
          <a:xfrm>
            <a:off x="1612490" y="1010487"/>
            <a:ext cx="9458632" cy="42792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3C853ED-7056-D4D8-BF3D-DA5BA7087705}"/>
              </a:ext>
            </a:extLst>
          </p:cNvPr>
          <p:cNvSpPr txBox="1"/>
          <p:nvPr/>
        </p:nvSpPr>
        <p:spPr>
          <a:xfrm flipH="1">
            <a:off x="3044558" y="3328219"/>
            <a:ext cx="7534952" cy="11387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sz="1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8E2D2DC-D681-A95C-5BDD-996439DC5886}"/>
              </a:ext>
            </a:extLst>
          </p:cNvPr>
          <p:cNvSpPr txBox="1"/>
          <p:nvPr/>
        </p:nvSpPr>
        <p:spPr>
          <a:xfrm>
            <a:off x="3113384" y="5539736"/>
            <a:ext cx="7846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ELIMINAR O TOPICO INTEIRO DAS CONFIABILIDADES DOS FABRICANTES E DISTRIBUIDORAS</a:t>
            </a:r>
          </a:p>
        </p:txBody>
      </p:sp>
    </p:spTree>
    <p:extLst>
      <p:ext uri="{BB962C8B-B14F-4D97-AF65-F5344CB8AC3E}">
        <p14:creationId xmlns:p14="http://schemas.microsoft.com/office/powerpoint/2010/main" val="1523547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23D1430-7691-5AA1-D475-AC6F4F983E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49" b="4804"/>
          <a:stretch>
            <a:fillRect/>
          </a:stretch>
        </p:blipFill>
        <p:spPr>
          <a:xfrm>
            <a:off x="3421625" y="24522"/>
            <a:ext cx="6724345" cy="30693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03BBC07-FAAE-E6E8-38D4-7A024BE369D9}"/>
              </a:ext>
            </a:extLst>
          </p:cNvPr>
          <p:cNvSpPr txBox="1"/>
          <p:nvPr/>
        </p:nvSpPr>
        <p:spPr>
          <a:xfrm flipH="1">
            <a:off x="4289403" y="556807"/>
            <a:ext cx="5856567" cy="5847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465289EA-0E96-F95E-4C37-D3E6D27D9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230954"/>
              </p:ext>
            </p:extLst>
          </p:nvPr>
        </p:nvGraphicFramePr>
        <p:xfrm>
          <a:off x="1214310" y="5575031"/>
          <a:ext cx="3352747" cy="8244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0513">
                  <a:extLst>
                    <a:ext uri="{9D8B030D-6E8A-4147-A177-3AD203B41FA5}">
                      <a16:colId xmlns:a16="http://schemas.microsoft.com/office/drawing/2014/main" val="3076236875"/>
                    </a:ext>
                  </a:extLst>
                </a:gridCol>
                <a:gridCol w="1002234">
                  <a:extLst>
                    <a:ext uri="{9D8B030D-6E8A-4147-A177-3AD203B41FA5}">
                      <a16:colId xmlns:a16="http://schemas.microsoft.com/office/drawing/2014/main" val="4233823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0">
                          <a:effectLst/>
                        </a:rPr>
                        <a:t>Classe de consumo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0">
                          <a:effectLst/>
                        </a:rPr>
                        <a:t>Fator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80965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0">
                          <a:effectLst/>
                        </a:rPr>
                        <a:t>Residencial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0">
                          <a:effectLst/>
                        </a:rPr>
                        <a:t>30%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23952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0">
                          <a:effectLst/>
                        </a:rPr>
                        <a:t>Comercial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0">
                          <a:effectLst/>
                        </a:rPr>
                        <a:t>60%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29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0">
                          <a:effectLst/>
                        </a:rPr>
                        <a:t>Industrial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0" dirty="0">
                          <a:effectLst/>
                        </a:rPr>
                        <a:t>80%</a:t>
                      </a:r>
                      <a:endParaRPr lang="pt-BR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28660502"/>
                  </a:ext>
                </a:extLst>
              </a:tr>
            </a:tbl>
          </a:graphicData>
        </a:graphic>
      </p:graphicFrame>
      <p:sp>
        <p:nvSpPr>
          <p:cNvPr id="11" name="Rectangle 3">
            <a:extLst>
              <a:ext uri="{FF2B5EF4-FFF2-40B4-BE49-F238E27FC236}">
                <a16:creationId xmlns:a16="http://schemas.microsoft.com/office/drawing/2014/main" id="{1D98777A-8F84-60C5-E518-494271250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208" y="3263270"/>
            <a:ext cx="10672214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200" b="1" dirty="0">
                <a:latin typeface="+mn-lt"/>
              </a:rPr>
              <a:t>Atenção: não se pontua na tabela de análise de viabilidade econômico-financeira</a:t>
            </a:r>
          </a:p>
          <a:p>
            <a:r>
              <a:rPr lang="pt-BR" sz="1000" dirty="0">
                <a:latin typeface="+mn-lt"/>
              </a:rPr>
              <a:t>Os valores apresentados pelas empresas variam muito e podem ser manipulados — índice de reajuste da energia, fator de simultaneidade e previsões de geração </a:t>
            </a:r>
            <a:r>
              <a:rPr lang="pt-BR" sz="1000" b="1" dirty="0">
                <a:latin typeface="+mn-lt"/>
              </a:rPr>
              <a:t>exageradas</a:t>
            </a:r>
            <a:r>
              <a:rPr lang="pt-BR" sz="1000" dirty="0">
                <a:latin typeface="+mn-lt"/>
              </a:rPr>
              <a:t> reduzem artificialmente o prazo de retorno. Quanto maiores esses índices, menor o </a:t>
            </a:r>
            <a:r>
              <a:rPr lang="pt-BR" sz="1000" dirty="0" err="1">
                <a:latin typeface="+mn-lt"/>
              </a:rPr>
              <a:t>payback</a:t>
            </a:r>
            <a:r>
              <a:rPr lang="pt-BR" sz="1000" dirty="0">
                <a:latin typeface="+mn-lt"/>
              </a:rPr>
              <a:t>, podendo levar a tomada de decisão equivocada.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800" b="1" dirty="0"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Padronização das Viabilidades Econômico-Financeiras</a:t>
            </a:r>
            <a:endParaRPr kumimoji="0" lang="pt-BR" altLang="pt-B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Para comparar propostas de forma justa, todas devem utilizar os mesmos parâmetros de cálculo: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Inflação/Reajuste da tarifa de energia: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4,0% ao ano (exemplo)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Fator de simultaneidade residencial: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30% (exemplo)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Pergunta ao ChatGPT sobre os reajustes da distribuidora de energia do seu Estado: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"Com base nos reajustes tarifários da distribuidora de energia do "meu estado" nos últimos 10 ciclos tarifários, calcule a média anual de reajuste da tarifa "residencial - Grupo B."</a:t>
            </a:r>
            <a:endParaRPr kumimoji="0" lang="pt-BR" altLang="pt-B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000" b="1" dirty="0"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Fator</a:t>
            </a:r>
            <a:r>
              <a:rPr lang="pt-BR" altLang="pt-BR" sz="1000" b="1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de simultaneidade sugerido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200" b="1" dirty="0">
              <a:latin typeface="+mn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200" b="1" dirty="0">
              <a:latin typeface="+mn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200" b="1" dirty="0">
              <a:latin typeface="+mn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Ao exigir dos vendedores os mesmos índices de reajuste tarifário e fator de simultaneidade, você garante uma comparação objetiva do prazo de retorno e rentabilidade.</a:t>
            </a:r>
            <a:endParaRPr lang="pt-BR" altLang="pt-BR" dirty="0"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6D18FDED-F9E7-E617-B354-A863AB0614F2}"/>
              </a:ext>
            </a:extLst>
          </p:cNvPr>
          <p:cNvCxnSpPr>
            <a:cxnSpLocks/>
          </p:cNvCxnSpPr>
          <p:nvPr/>
        </p:nvCxnSpPr>
        <p:spPr>
          <a:xfrm flipV="1">
            <a:off x="2359742" y="996678"/>
            <a:ext cx="1470302" cy="660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6042B3B-4C2E-6897-6B8B-7C3397DA058E}"/>
              </a:ext>
            </a:extLst>
          </p:cNvPr>
          <p:cNvSpPr txBox="1"/>
          <p:nvPr/>
        </p:nvSpPr>
        <p:spPr>
          <a:xfrm>
            <a:off x="1108208" y="1494899"/>
            <a:ext cx="1782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Texto a substituir</a:t>
            </a:r>
          </a:p>
        </p:txBody>
      </p:sp>
    </p:spTree>
    <p:extLst>
      <p:ext uri="{BB962C8B-B14F-4D97-AF65-F5344CB8AC3E}">
        <p14:creationId xmlns:p14="http://schemas.microsoft.com/office/powerpoint/2010/main" val="3429930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7AD9DEA-CBF1-8B6A-CC72-3D3A6C0107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14194" r="39194" b="4803"/>
          <a:stretch>
            <a:fillRect/>
          </a:stretch>
        </p:blipFill>
        <p:spPr>
          <a:xfrm>
            <a:off x="412954" y="651387"/>
            <a:ext cx="7413523" cy="55552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8B4AF4E-22B7-A250-CAEE-FD811117BE0F}"/>
              </a:ext>
            </a:extLst>
          </p:cNvPr>
          <p:cNvSpPr txBox="1"/>
          <p:nvPr/>
        </p:nvSpPr>
        <p:spPr>
          <a:xfrm>
            <a:off x="8731046" y="3195294"/>
            <a:ext cx="3057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</a:rPr>
              <a:t>TABELA VIABILIDADES:</a:t>
            </a:r>
          </a:p>
          <a:p>
            <a:endParaRPr lang="pt-BR" sz="1400" b="1" dirty="0">
              <a:solidFill>
                <a:srgbClr val="FF0000"/>
              </a:solidFill>
            </a:endParaRPr>
          </a:p>
          <a:p>
            <a:r>
              <a:rPr lang="pt-BR" sz="1400" b="1" dirty="0">
                <a:solidFill>
                  <a:srgbClr val="FF0000"/>
                </a:solidFill>
              </a:rPr>
              <a:t>ELIMINAR TODOS AS FERRAMENTAS DE PONTUAÇÃO SIM / NÃO</a:t>
            </a:r>
          </a:p>
        </p:txBody>
      </p:sp>
      <p:sp>
        <p:nvSpPr>
          <p:cNvPr id="7" name="Chave Direita 6">
            <a:extLst>
              <a:ext uri="{FF2B5EF4-FFF2-40B4-BE49-F238E27FC236}">
                <a16:creationId xmlns:a16="http://schemas.microsoft.com/office/drawing/2014/main" id="{8AE6B18B-314B-94AB-C5D1-6163C747DB03}"/>
              </a:ext>
            </a:extLst>
          </p:cNvPr>
          <p:cNvSpPr/>
          <p:nvPr/>
        </p:nvSpPr>
        <p:spPr>
          <a:xfrm>
            <a:off x="7580671" y="1897626"/>
            <a:ext cx="1288026" cy="3549445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0E07B1E-7477-22B3-F981-F337447F5D42}"/>
              </a:ext>
            </a:extLst>
          </p:cNvPr>
          <p:cNvCxnSpPr/>
          <p:nvPr/>
        </p:nvCxnSpPr>
        <p:spPr>
          <a:xfrm>
            <a:off x="1563329" y="5614219"/>
            <a:ext cx="601734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A5C3AFB8-3F90-E33D-8110-06DD69824F83}"/>
              </a:ext>
            </a:extLst>
          </p:cNvPr>
          <p:cNvCxnSpPr>
            <a:cxnSpLocks/>
          </p:cNvCxnSpPr>
          <p:nvPr/>
        </p:nvCxnSpPr>
        <p:spPr>
          <a:xfrm flipH="1">
            <a:off x="7737987" y="5614219"/>
            <a:ext cx="9930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2F36B78-D44B-3070-4312-94FDC50AAE39}"/>
              </a:ext>
            </a:extLst>
          </p:cNvPr>
          <p:cNvSpPr txBox="1"/>
          <p:nvPr/>
        </p:nvSpPr>
        <p:spPr>
          <a:xfrm>
            <a:off x="8731046" y="4970015"/>
            <a:ext cx="3057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b="1" dirty="0">
              <a:solidFill>
                <a:srgbClr val="FF0000"/>
              </a:solidFill>
            </a:endParaRPr>
          </a:p>
          <a:p>
            <a:endParaRPr lang="pt-BR" sz="1400" b="1" dirty="0">
              <a:solidFill>
                <a:srgbClr val="FF0000"/>
              </a:solidFill>
            </a:endParaRPr>
          </a:p>
          <a:p>
            <a:r>
              <a:rPr lang="pt-BR" sz="1400" b="1" dirty="0">
                <a:solidFill>
                  <a:srgbClr val="FF0000"/>
                </a:solidFill>
              </a:rPr>
              <a:t>ELIMINAR A LINHA TOTAL DE PONTUAÇÃO</a:t>
            </a:r>
          </a:p>
        </p:txBody>
      </p:sp>
    </p:spTree>
    <p:extLst>
      <p:ext uri="{BB962C8B-B14F-4D97-AF65-F5344CB8AC3E}">
        <p14:creationId xmlns:p14="http://schemas.microsoft.com/office/powerpoint/2010/main" val="4052909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E923263-3005-3C21-87F2-8A09336E52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80" b="4659"/>
          <a:stretch>
            <a:fillRect/>
          </a:stretch>
        </p:blipFill>
        <p:spPr>
          <a:xfrm>
            <a:off x="707922" y="750264"/>
            <a:ext cx="11061290" cy="503110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776BEA17-1AE3-6A15-2BC6-34EA183E7801}"/>
              </a:ext>
            </a:extLst>
          </p:cNvPr>
          <p:cNvCxnSpPr>
            <a:cxnSpLocks/>
          </p:cNvCxnSpPr>
          <p:nvPr/>
        </p:nvCxnSpPr>
        <p:spPr>
          <a:xfrm>
            <a:off x="4778477" y="3106993"/>
            <a:ext cx="138634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35712400-28E2-42C4-9F59-82C7C0077907}"/>
              </a:ext>
            </a:extLst>
          </p:cNvPr>
          <p:cNvSpPr txBox="1"/>
          <p:nvPr/>
        </p:nvSpPr>
        <p:spPr>
          <a:xfrm>
            <a:off x="4306529" y="247954"/>
            <a:ext cx="4342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Trocar por: Análise de Viabilidade Financeira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19387E58-B5EB-A847-0A42-C06418F4B4F2}"/>
              </a:ext>
            </a:extLst>
          </p:cNvPr>
          <p:cNvCxnSpPr>
            <a:stCxn id="9" idx="2"/>
          </p:cNvCxnSpPr>
          <p:nvPr/>
        </p:nvCxnSpPr>
        <p:spPr>
          <a:xfrm flipH="1">
            <a:off x="5545394" y="617286"/>
            <a:ext cx="932242" cy="2234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822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7A03E07-D132-F8EA-9C5B-C719434901AC}"/>
              </a:ext>
            </a:extLst>
          </p:cNvPr>
          <p:cNvSpPr txBox="1"/>
          <p:nvPr/>
        </p:nvSpPr>
        <p:spPr>
          <a:xfrm>
            <a:off x="4876799" y="82725"/>
            <a:ext cx="3008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REGRAS DE PONTUÇÃO EMPRESAS</a:t>
            </a:r>
            <a:endParaRPr lang="pt-BR" sz="1400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7976F33-3B9B-8215-6DEC-9FE4B07BF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31773"/>
              </p:ext>
            </p:extLst>
          </p:nvPr>
        </p:nvGraphicFramePr>
        <p:xfrm>
          <a:off x="113073" y="-81115"/>
          <a:ext cx="11965854" cy="6975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019">
                  <a:extLst>
                    <a:ext uri="{9D8B030D-6E8A-4147-A177-3AD203B41FA5}">
                      <a16:colId xmlns:a16="http://schemas.microsoft.com/office/drawing/2014/main" val="2179393247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704346513"/>
                    </a:ext>
                  </a:extLst>
                </a:gridCol>
                <a:gridCol w="825909">
                  <a:extLst>
                    <a:ext uri="{9D8B030D-6E8A-4147-A177-3AD203B41FA5}">
                      <a16:colId xmlns:a16="http://schemas.microsoft.com/office/drawing/2014/main" val="225712527"/>
                    </a:ext>
                  </a:extLst>
                </a:gridCol>
                <a:gridCol w="860321">
                  <a:extLst>
                    <a:ext uri="{9D8B030D-6E8A-4147-A177-3AD203B41FA5}">
                      <a16:colId xmlns:a16="http://schemas.microsoft.com/office/drawing/2014/main" val="2247626493"/>
                    </a:ext>
                  </a:extLst>
                </a:gridCol>
                <a:gridCol w="752170">
                  <a:extLst>
                    <a:ext uri="{9D8B030D-6E8A-4147-A177-3AD203B41FA5}">
                      <a16:colId xmlns:a16="http://schemas.microsoft.com/office/drawing/2014/main" val="2823337591"/>
                    </a:ext>
                  </a:extLst>
                </a:gridCol>
                <a:gridCol w="845574">
                  <a:extLst>
                    <a:ext uri="{9D8B030D-6E8A-4147-A177-3AD203B41FA5}">
                      <a16:colId xmlns:a16="http://schemas.microsoft.com/office/drawing/2014/main" val="2304289221"/>
                    </a:ext>
                  </a:extLst>
                </a:gridCol>
                <a:gridCol w="884903">
                  <a:extLst>
                    <a:ext uri="{9D8B030D-6E8A-4147-A177-3AD203B41FA5}">
                      <a16:colId xmlns:a16="http://schemas.microsoft.com/office/drawing/2014/main" val="2179572846"/>
                    </a:ext>
                  </a:extLst>
                </a:gridCol>
                <a:gridCol w="884903">
                  <a:extLst>
                    <a:ext uri="{9D8B030D-6E8A-4147-A177-3AD203B41FA5}">
                      <a16:colId xmlns:a16="http://schemas.microsoft.com/office/drawing/2014/main" val="3179127977"/>
                    </a:ext>
                  </a:extLst>
                </a:gridCol>
                <a:gridCol w="835742">
                  <a:extLst>
                    <a:ext uri="{9D8B030D-6E8A-4147-A177-3AD203B41FA5}">
                      <a16:colId xmlns:a16="http://schemas.microsoft.com/office/drawing/2014/main" val="4290895183"/>
                    </a:ext>
                  </a:extLst>
                </a:gridCol>
                <a:gridCol w="875071">
                  <a:extLst>
                    <a:ext uri="{9D8B030D-6E8A-4147-A177-3AD203B41FA5}">
                      <a16:colId xmlns:a16="http://schemas.microsoft.com/office/drawing/2014/main" val="327293670"/>
                    </a:ext>
                  </a:extLst>
                </a:gridCol>
                <a:gridCol w="835742">
                  <a:extLst>
                    <a:ext uri="{9D8B030D-6E8A-4147-A177-3AD203B41FA5}">
                      <a16:colId xmlns:a16="http://schemas.microsoft.com/office/drawing/2014/main" val="921691632"/>
                    </a:ext>
                  </a:extLst>
                </a:gridCol>
                <a:gridCol w="727583">
                  <a:extLst>
                    <a:ext uri="{9D8B030D-6E8A-4147-A177-3AD203B41FA5}">
                      <a16:colId xmlns:a16="http://schemas.microsoft.com/office/drawing/2014/main" val="4237540280"/>
                    </a:ext>
                  </a:extLst>
                </a:gridCol>
              </a:tblGrid>
              <a:tr h="602225">
                <a:tc>
                  <a:txBody>
                    <a:bodyPr/>
                    <a:lstStyle/>
                    <a:p>
                      <a:r>
                        <a:rPr lang="pt-BR" dirty="0"/>
                        <a:t>EMPRESAS: Itens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944785"/>
                  </a:ext>
                </a:extLst>
              </a:tr>
              <a:tr h="501445">
                <a:tc>
                  <a:txBody>
                    <a:bodyPr/>
                    <a:lstStyle/>
                    <a:p>
                      <a:r>
                        <a:rPr lang="pt-B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Atuação no ramo solar desde 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82083"/>
                  </a:ext>
                </a:extLst>
              </a:tr>
              <a:tr h="501445">
                <a:tc>
                  <a:txBody>
                    <a:bodyPr/>
                    <a:lstStyle/>
                    <a:p>
                      <a:r>
                        <a:rPr lang="pt-B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Ano de abertura da empresa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+ 2016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171578"/>
                  </a:ext>
                </a:extLst>
              </a:tr>
              <a:tr h="501445">
                <a:tc>
                  <a:txBody>
                    <a:bodyPr/>
                    <a:lstStyle/>
                    <a:p>
                      <a:r>
                        <a:rPr lang="pt-B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Registro CREA engenharia elétrica 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35466"/>
                  </a:ext>
                </a:extLst>
              </a:tr>
              <a:tr h="501445">
                <a:tc>
                  <a:txBody>
                    <a:bodyPr/>
                    <a:lstStyle/>
                    <a:p>
                      <a:r>
                        <a:rPr lang="pt-B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Colação de grau do engenheiro responsável 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2016 e antes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72862"/>
                  </a:ext>
                </a:extLst>
              </a:tr>
              <a:tr h="501445">
                <a:tc>
                  <a:txBody>
                    <a:bodyPr/>
                    <a:lstStyle/>
                    <a:p>
                      <a:r>
                        <a:rPr lang="pt-B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SFV instalado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10-49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50-100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100-500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500-1000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+ 1000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83271"/>
                  </a:ext>
                </a:extLst>
              </a:tr>
              <a:tr h="501445">
                <a:tc>
                  <a:txBody>
                    <a:bodyPr/>
                    <a:lstStyle/>
                    <a:p>
                      <a:r>
                        <a:rPr lang="pt-B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Instalações são realizadas por funcionário próprio (sim/não)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Sim mas duvido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01182"/>
                  </a:ext>
                </a:extLst>
              </a:tr>
              <a:tr h="501445">
                <a:tc>
                  <a:txBody>
                    <a:bodyPr/>
                    <a:lstStyle/>
                    <a:p>
                      <a:r>
                        <a:rPr lang="pt-BR" sz="900" dirty="0"/>
                        <a:t>Prazo máximo de instalação do sistema solar (dias)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80057"/>
                  </a:ext>
                </a:extLst>
              </a:tr>
              <a:tr h="501445">
                <a:tc>
                  <a:txBody>
                    <a:bodyPr/>
                    <a:lstStyle/>
                    <a:p>
                      <a:r>
                        <a:rPr lang="pt-BR" sz="900" dirty="0"/>
                        <a:t>Garantia contra defeito de projeto e execução (anos)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020739"/>
                  </a:ext>
                </a:extLst>
              </a:tr>
              <a:tr h="501445">
                <a:tc>
                  <a:txBody>
                    <a:bodyPr/>
                    <a:lstStyle/>
                    <a:p>
                      <a:r>
                        <a:rPr lang="pt-B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Existência de serviço de manutenção e assistência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Sim mas duvido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087931"/>
                  </a:ext>
                </a:extLst>
              </a:tr>
              <a:tr h="501445">
                <a:tc>
                  <a:txBody>
                    <a:bodyPr/>
                    <a:lstStyle/>
                    <a:p>
                      <a:r>
                        <a:rPr lang="pt-B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Prazo de assistência técnica (dias)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11 e  acima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559039"/>
                  </a:ext>
                </a:extLst>
              </a:tr>
              <a:tr h="501445">
                <a:tc>
                  <a:txBody>
                    <a:bodyPr/>
                    <a:lstStyle/>
                    <a:p>
                      <a:r>
                        <a:rPr lang="pt-B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Entregue memorial descritivo e diagrama unifilar (sim/não)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Sim mas duvido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727307"/>
                  </a:ext>
                </a:extLst>
              </a:tr>
              <a:tr h="353963">
                <a:tc>
                  <a:txBody>
                    <a:bodyPr/>
                    <a:lstStyle/>
                    <a:p>
                      <a:r>
                        <a:rPr lang="pt-B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Sentiu competência e confiança com o vendedor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753626"/>
                  </a:ext>
                </a:extLst>
              </a:tr>
              <a:tr h="501445">
                <a:tc>
                  <a:txBody>
                    <a:bodyPr/>
                    <a:lstStyle/>
                    <a:p>
                      <a:r>
                        <a:rPr lang="pt-BR" sz="900" dirty="0"/>
                        <a:t>Reclame Aqui: nota média dos últimos 12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Não recomendado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Ruim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Bom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Ótimo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RA 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141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802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AA6A9-E46B-BD48-B93A-7588A451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95E3F9-54EF-1CB6-7E9F-BCB036288015}"/>
              </a:ext>
            </a:extLst>
          </p:cNvPr>
          <p:cNvSpPr txBox="1"/>
          <p:nvPr/>
        </p:nvSpPr>
        <p:spPr>
          <a:xfrm>
            <a:off x="757083" y="1258528"/>
            <a:ext cx="1091380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EMPRESAS</a:t>
            </a:r>
          </a:p>
          <a:p>
            <a:endParaRPr lang="pt-BR" b="1" dirty="0"/>
          </a:p>
          <a:p>
            <a:r>
              <a:rPr lang="pt-BR" dirty="0"/>
              <a:t>Explicações complementários: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/>
              <a:t>Sim mas duvido: </a:t>
            </a:r>
            <a:r>
              <a:rPr lang="pt-BR" dirty="0"/>
              <a:t>situação em que o vendedor não consegui convencer o comprador com suas afirmações ´-  levantando suspeita de mentira – afirmando por exemplo que a empresa de solar trabalha com equipe própria.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 </a:t>
            </a:r>
            <a:r>
              <a:rPr lang="pt-BR" b="1" dirty="0"/>
              <a:t>Reclame Aqui</a:t>
            </a:r>
            <a:r>
              <a:rPr lang="pt-BR" dirty="0"/>
              <a:t>: Caso foi clicado em uma das essas opções: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dirty="0"/>
              <a:t>Reputação suspensa;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dirty="0"/>
              <a:t>Em análise;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dirty="0"/>
              <a:t>Ou Sem reputação definida;</a:t>
            </a:r>
          </a:p>
          <a:p>
            <a:pPr lvl="1"/>
            <a:r>
              <a:rPr lang="pt-BR" dirty="0"/>
              <a:t>a Empresa de solar, distribuidora, fabricante de módulo ou inversor, não recebe pontuação nenhuma -  minha sugestão neste caso seria de inserir o traço tipo assim: - ( ou algo que mostra que nenhuma pontuação foi atribuída)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6927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DB6EF-4CF5-ECAA-765C-887E12BE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29592C6-54AF-4F53-0B8A-F4ABF0E3FE42}"/>
              </a:ext>
            </a:extLst>
          </p:cNvPr>
          <p:cNvSpPr txBox="1"/>
          <p:nvPr/>
        </p:nvSpPr>
        <p:spPr>
          <a:xfrm>
            <a:off x="4876799" y="82725"/>
            <a:ext cx="3008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REGRAS DE PONTUÇÃO EMPRESAS</a:t>
            </a:r>
            <a:endParaRPr lang="pt-BR" sz="1400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BC87FCD-B697-5E3D-5522-F68A3835F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061116"/>
              </p:ext>
            </p:extLst>
          </p:nvPr>
        </p:nvGraphicFramePr>
        <p:xfrm>
          <a:off x="204020" y="103234"/>
          <a:ext cx="11783959" cy="6827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7376">
                  <a:extLst>
                    <a:ext uri="{9D8B030D-6E8A-4147-A177-3AD203B41FA5}">
                      <a16:colId xmlns:a16="http://schemas.microsoft.com/office/drawing/2014/main" val="2179393247"/>
                    </a:ext>
                  </a:extLst>
                </a:gridCol>
                <a:gridCol w="755259">
                  <a:extLst>
                    <a:ext uri="{9D8B030D-6E8A-4147-A177-3AD203B41FA5}">
                      <a16:colId xmlns:a16="http://schemas.microsoft.com/office/drawing/2014/main" val="704346513"/>
                    </a:ext>
                  </a:extLst>
                </a:gridCol>
                <a:gridCol w="813354">
                  <a:extLst>
                    <a:ext uri="{9D8B030D-6E8A-4147-A177-3AD203B41FA5}">
                      <a16:colId xmlns:a16="http://schemas.microsoft.com/office/drawing/2014/main" val="225712527"/>
                    </a:ext>
                  </a:extLst>
                </a:gridCol>
                <a:gridCol w="784307">
                  <a:extLst>
                    <a:ext uri="{9D8B030D-6E8A-4147-A177-3AD203B41FA5}">
                      <a16:colId xmlns:a16="http://schemas.microsoft.com/office/drawing/2014/main" val="2247626493"/>
                    </a:ext>
                  </a:extLst>
                </a:gridCol>
                <a:gridCol w="803673">
                  <a:extLst>
                    <a:ext uri="{9D8B030D-6E8A-4147-A177-3AD203B41FA5}">
                      <a16:colId xmlns:a16="http://schemas.microsoft.com/office/drawing/2014/main" val="2823337591"/>
                    </a:ext>
                  </a:extLst>
                </a:gridCol>
                <a:gridCol w="832720">
                  <a:extLst>
                    <a:ext uri="{9D8B030D-6E8A-4147-A177-3AD203B41FA5}">
                      <a16:colId xmlns:a16="http://schemas.microsoft.com/office/drawing/2014/main" val="2304289221"/>
                    </a:ext>
                  </a:extLst>
                </a:gridCol>
                <a:gridCol w="871451">
                  <a:extLst>
                    <a:ext uri="{9D8B030D-6E8A-4147-A177-3AD203B41FA5}">
                      <a16:colId xmlns:a16="http://schemas.microsoft.com/office/drawing/2014/main" val="2179572846"/>
                    </a:ext>
                  </a:extLst>
                </a:gridCol>
                <a:gridCol w="871451">
                  <a:extLst>
                    <a:ext uri="{9D8B030D-6E8A-4147-A177-3AD203B41FA5}">
                      <a16:colId xmlns:a16="http://schemas.microsoft.com/office/drawing/2014/main" val="3179127977"/>
                    </a:ext>
                  </a:extLst>
                </a:gridCol>
                <a:gridCol w="823038">
                  <a:extLst>
                    <a:ext uri="{9D8B030D-6E8A-4147-A177-3AD203B41FA5}">
                      <a16:colId xmlns:a16="http://schemas.microsoft.com/office/drawing/2014/main" val="4290895183"/>
                    </a:ext>
                  </a:extLst>
                </a:gridCol>
                <a:gridCol w="861769">
                  <a:extLst>
                    <a:ext uri="{9D8B030D-6E8A-4147-A177-3AD203B41FA5}">
                      <a16:colId xmlns:a16="http://schemas.microsoft.com/office/drawing/2014/main" val="327293670"/>
                    </a:ext>
                  </a:extLst>
                </a:gridCol>
                <a:gridCol w="823038">
                  <a:extLst>
                    <a:ext uri="{9D8B030D-6E8A-4147-A177-3AD203B41FA5}">
                      <a16:colId xmlns:a16="http://schemas.microsoft.com/office/drawing/2014/main" val="921691632"/>
                    </a:ext>
                  </a:extLst>
                </a:gridCol>
                <a:gridCol w="716523">
                  <a:extLst>
                    <a:ext uri="{9D8B030D-6E8A-4147-A177-3AD203B41FA5}">
                      <a16:colId xmlns:a16="http://schemas.microsoft.com/office/drawing/2014/main" val="4237540280"/>
                    </a:ext>
                  </a:extLst>
                </a:gridCol>
              </a:tblGrid>
              <a:tr h="571251">
                <a:tc>
                  <a:txBody>
                    <a:bodyPr/>
                    <a:lstStyle/>
                    <a:p>
                      <a:r>
                        <a:rPr lang="pt-BR" dirty="0"/>
                        <a:t>TECNOLOGIA: Itens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944785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Consumo Anual  a compensar (kWh/ano)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82083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Potência do sistema (kWp)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171578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b="1" dirty="0"/>
                        <a:t>Geração anual (kWh) </a:t>
                      </a:r>
                      <a:r>
                        <a:rPr lang="pt-BR" sz="1000" dirty="0"/>
                        <a:t>base de calculo: Consumo anual a compensar  /Geração anual- </a:t>
                      </a:r>
                      <a:r>
                        <a:rPr lang="pt-BR" sz="1000" dirty="0" err="1"/>
                        <a:t>Ex</a:t>
                      </a:r>
                      <a:r>
                        <a:rPr lang="pt-BR" sz="1000" dirty="0"/>
                        <a:t>  9000 - 8731 = -2,99%  ( -3%) = 2 pontos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-5%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-4%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-3%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-2%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-1%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+ 1%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+2%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+3%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+4%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+5%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35466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Módulo fotovoltaico - marca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Grupo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Grupo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Grupo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Grupo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72862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Módulo fotovoltaico - 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83271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Potência do módulo (watts)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01182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Eficiência de conversão de radiação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80057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Eficiência aos 25 ou 30 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020739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Garantia contra defeito do módulo (anos)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087931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Garantia de eficiência do módulo (anos)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559039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Número de módulos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727307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Inversor de corrente - marca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Grupo 6,0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Grupo 7,0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Grupo 8,0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Grupo 9,0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753626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Modelo do inversor </a:t>
                      </a:r>
                    </a:p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141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638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4CFD87F-B355-6F05-CCEF-1BAB1977E6CD}"/>
              </a:ext>
            </a:extLst>
          </p:cNvPr>
          <p:cNvSpPr txBox="1"/>
          <p:nvPr/>
        </p:nvSpPr>
        <p:spPr>
          <a:xfrm>
            <a:off x="639096" y="462115"/>
            <a:ext cx="109138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TECNOLOGIA</a:t>
            </a:r>
          </a:p>
          <a:p>
            <a:endParaRPr lang="pt-BR" b="1" dirty="0"/>
          </a:p>
          <a:p>
            <a:r>
              <a:rPr lang="pt-BR" sz="1400" dirty="0"/>
              <a:t>Explicações complementários:</a:t>
            </a:r>
          </a:p>
          <a:p>
            <a:endParaRPr lang="pt-B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400" b="1" dirty="0"/>
              <a:t>Geração anual (kWh) </a:t>
            </a:r>
            <a:r>
              <a:rPr lang="pt-BR" sz="1400" dirty="0"/>
              <a:t>base de calculo: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400" dirty="0"/>
              <a:t>Consumo anual a compensar (</a:t>
            </a:r>
            <a:r>
              <a:rPr lang="pt-BR" sz="1400" dirty="0" err="1"/>
              <a:t>ex</a:t>
            </a:r>
            <a:r>
              <a:rPr lang="pt-BR" sz="1400" dirty="0"/>
              <a:t>: 9000 kWh)  - Geração anual (8731 kWh) = 269/9000 =  -2,99%  ( arredondado em 3%) = na escala de 10 pontos = atribuição de 2 pontos.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400" dirty="0"/>
              <a:t> </a:t>
            </a:r>
            <a:r>
              <a:rPr lang="pt-BR" sz="1400" b="1" dirty="0"/>
              <a:t>Módulo Fotovoltaica - Marca</a:t>
            </a:r>
            <a:r>
              <a:rPr lang="pt-BR" sz="1400" dirty="0"/>
              <a:t>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400" dirty="0"/>
              <a:t>Grupo de marca 5: </a:t>
            </a:r>
            <a:r>
              <a:rPr lang="pt-BR" sz="1400" dirty="0" err="1"/>
              <a:t>Risen</a:t>
            </a:r>
            <a:r>
              <a:rPr lang="pt-BR" sz="1400" dirty="0"/>
              <a:t>, DAH Solar, </a:t>
            </a:r>
            <a:r>
              <a:rPr lang="pt-BR" sz="1400" dirty="0" err="1"/>
              <a:t>Eging</a:t>
            </a:r>
            <a:r>
              <a:rPr lang="pt-BR" sz="1400" dirty="0"/>
              <a:t>, Era Solar, Honor Solar, </a:t>
            </a:r>
            <a:r>
              <a:rPr lang="pt-BR" sz="1400" dirty="0" err="1"/>
              <a:t>Osda</a:t>
            </a:r>
            <a:r>
              <a:rPr lang="pt-BR" sz="1400" dirty="0"/>
              <a:t>, </a:t>
            </a:r>
            <a:r>
              <a:rPr lang="pt-BR" sz="1400" dirty="0" err="1"/>
              <a:t>Ronma</a:t>
            </a:r>
            <a:r>
              <a:rPr lang="pt-BR" sz="1400" dirty="0"/>
              <a:t>, Tsun. </a:t>
            </a:r>
            <a:r>
              <a:rPr lang="pt-BR" sz="1400" dirty="0" err="1"/>
              <a:t>Hanersun</a:t>
            </a:r>
            <a:r>
              <a:rPr lang="pt-BR" sz="1400" dirty="0"/>
              <a:t>, </a:t>
            </a:r>
            <a:r>
              <a:rPr lang="pt-BR" sz="1400" dirty="0" err="1"/>
              <a:t>Leapton</a:t>
            </a:r>
            <a:r>
              <a:rPr lang="pt-BR" sz="1400" dirty="0"/>
              <a:t>, </a:t>
            </a:r>
            <a:r>
              <a:rPr lang="pt-BR" sz="1400" dirty="0" err="1"/>
              <a:t>Pulling</a:t>
            </a:r>
            <a:r>
              <a:rPr lang="pt-BR" sz="1400" dirty="0"/>
              <a:t>, </a:t>
            </a:r>
            <a:r>
              <a:rPr lang="pt-BR" sz="1400" dirty="0" err="1"/>
              <a:t>Sunova</a:t>
            </a:r>
            <a:r>
              <a:rPr lang="pt-BR" sz="1400" dirty="0"/>
              <a:t>, </a:t>
            </a:r>
            <a:r>
              <a:rPr lang="pt-BR" sz="1400" dirty="0" err="1"/>
              <a:t>Gokin</a:t>
            </a:r>
            <a:r>
              <a:rPr lang="pt-BR" sz="1400" dirty="0"/>
              <a:t>, </a:t>
            </a:r>
            <a:r>
              <a:rPr lang="pt-BR" sz="1400" dirty="0" err="1"/>
              <a:t>Renepv</a:t>
            </a:r>
            <a:r>
              <a:rPr lang="pt-BR" sz="1400" dirty="0"/>
              <a:t>, </a:t>
            </a:r>
            <a:r>
              <a:rPr lang="pt-BR" sz="1400" dirty="0" err="1"/>
              <a:t>Sunova</a:t>
            </a:r>
            <a:r>
              <a:rPr lang="pt-BR" sz="1400" dirty="0"/>
              <a:t>, </a:t>
            </a:r>
            <a:r>
              <a:rPr lang="pt-BR" sz="1400" dirty="0" err="1"/>
              <a:t>Huasun</a:t>
            </a:r>
            <a:r>
              <a:rPr lang="pt-BR" sz="1400" dirty="0"/>
              <a:t>, TW solar, Sun Power, </a:t>
            </a:r>
            <a:r>
              <a:rPr lang="pt-BR" sz="1400" dirty="0" err="1"/>
              <a:t>Helius</a:t>
            </a:r>
            <a:r>
              <a:rPr lang="pt-BR" sz="1400" dirty="0"/>
              <a:t>, </a:t>
            </a:r>
            <a:r>
              <a:rPr lang="pt-BR" sz="1400" dirty="0" err="1"/>
              <a:t>Maxeon</a:t>
            </a:r>
            <a:r>
              <a:rPr lang="pt-BR" sz="1400" dirty="0"/>
              <a:t>, </a:t>
            </a:r>
            <a:r>
              <a:rPr lang="pt-BR" sz="1400" dirty="0" err="1"/>
              <a:t>Haitai</a:t>
            </a:r>
            <a:r>
              <a:rPr lang="pt-BR" sz="1400" dirty="0"/>
              <a:t>,  e todas as outras marcas não listadas no grupo 5, 6, 8 e 10.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400" dirty="0"/>
              <a:t>Grupo de marca 6: JÁ SOLAR, ASTROENERGY, GCL, DMEGC, TCL SOLAR,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400" dirty="0"/>
              <a:t>Grupo de marca 8:TRINA SOLAR, QCELLS, YINGLI SOLAR,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400" dirty="0"/>
              <a:t>Grupo de marca 10: JINKO SOLAR, LONGI, PHONO, ZNSHINE, H-SAAE, CANADIAN SOLAR, AIKO, TW SOLAR,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pt-BR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400" b="1" dirty="0"/>
              <a:t>Inversor de Corrente – Marca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400" dirty="0"/>
              <a:t>Grupo  de marca 9: Huawei. </a:t>
            </a:r>
            <a:r>
              <a:rPr lang="pt-BR" sz="1400" dirty="0" err="1"/>
              <a:t>Sungrow</a:t>
            </a:r>
            <a:endParaRPr lang="pt-BR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400" dirty="0"/>
              <a:t>Grupo de marca 8,0: </a:t>
            </a:r>
            <a:r>
              <a:rPr lang="pt-BR" sz="1400" dirty="0" err="1"/>
              <a:t>Fronius</a:t>
            </a:r>
            <a:r>
              <a:rPr lang="pt-BR" sz="1400" dirty="0"/>
              <a:t>, </a:t>
            </a:r>
            <a:r>
              <a:rPr lang="pt-BR" sz="1400" dirty="0" err="1"/>
              <a:t>GoodWe</a:t>
            </a:r>
            <a:r>
              <a:rPr lang="pt-BR" sz="1400" dirty="0"/>
              <a:t>, </a:t>
            </a:r>
            <a:r>
              <a:rPr lang="pt-BR" sz="1400" dirty="0" err="1"/>
              <a:t>SolarEdge</a:t>
            </a:r>
            <a:r>
              <a:rPr lang="pt-BR" sz="1400" dirty="0"/>
              <a:t>, Solis, </a:t>
            </a:r>
            <a:r>
              <a:rPr lang="pt-BR" sz="1400" dirty="0" err="1"/>
              <a:t>Hoymiles</a:t>
            </a:r>
            <a:r>
              <a:rPr lang="pt-BR" sz="1400" dirty="0"/>
              <a:t>, </a:t>
            </a:r>
            <a:r>
              <a:rPr lang="pt-BR" sz="1400" dirty="0" err="1"/>
              <a:t>Enphase</a:t>
            </a:r>
            <a:r>
              <a:rPr lang="pt-BR" sz="1400" dirty="0"/>
              <a:t>, </a:t>
            </a:r>
            <a:r>
              <a:rPr lang="pt-BR" sz="1400" dirty="0" err="1"/>
              <a:t>Growatt</a:t>
            </a:r>
            <a:r>
              <a:rPr lang="pt-BR" sz="1400" dirty="0"/>
              <a:t>, Canadian, </a:t>
            </a:r>
            <a:r>
              <a:rPr lang="pt-BR" sz="1400" dirty="0" err="1"/>
              <a:t>APSystems</a:t>
            </a:r>
            <a:r>
              <a:rPr lang="pt-BR" sz="1400" dirty="0"/>
              <a:t>, </a:t>
            </a:r>
            <a:r>
              <a:rPr lang="pt-BR" sz="1400" dirty="0" err="1"/>
              <a:t>Deye</a:t>
            </a:r>
            <a:r>
              <a:rPr lang="pt-BR" sz="1400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400" dirty="0"/>
              <a:t>Grupo de marca 7,0: </a:t>
            </a:r>
            <a:r>
              <a:rPr lang="pt-BR" sz="1400" dirty="0" err="1"/>
              <a:t>FoxESS</a:t>
            </a:r>
            <a:r>
              <a:rPr lang="pt-BR" sz="1400" dirty="0"/>
              <a:t>, </a:t>
            </a:r>
            <a:r>
              <a:rPr lang="pt-BR" sz="1400" dirty="0" err="1"/>
              <a:t>Sofar</a:t>
            </a:r>
            <a:r>
              <a:rPr lang="pt-BR" sz="1400" dirty="0"/>
              <a:t>, </a:t>
            </a:r>
            <a:r>
              <a:rPr lang="pt-BR" sz="1400" dirty="0" err="1"/>
              <a:t>Solplanet</a:t>
            </a:r>
            <a:r>
              <a:rPr lang="pt-BR" sz="1400" dirty="0"/>
              <a:t>, SAJ, </a:t>
            </a:r>
            <a:r>
              <a:rPr lang="pt-BR" sz="1400" dirty="0" err="1"/>
              <a:t>SolaX</a:t>
            </a:r>
            <a:r>
              <a:rPr lang="pt-BR" sz="1400" dirty="0"/>
              <a:t> Power, Canadian, </a:t>
            </a:r>
            <a:r>
              <a:rPr lang="pt-BR" sz="1400" dirty="0" err="1"/>
              <a:t>APSystems</a:t>
            </a:r>
            <a:r>
              <a:rPr lang="pt-BR" sz="1400" dirty="0"/>
              <a:t>, </a:t>
            </a:r>
            <a:r>
              <a:rPr lang="pt-BR" sz="1400" dirty="0" err="1"/>
              <a:t>Deye</a:t>
            </a:r>
            <a:r>
              <a:rPr lang="pt-BR" sz="1400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400" dirty="0"/>
              <a:t>Grupo de marca 6,0: </a:t>
            </a:r>
            <a:r>
              <a:rPr lang="pt-BR" sz="1400" dirty="0" err="1"/>
              <a:t>Tsuness</a:t>
            </a:r>
            <a:r>
              <a:rPr lang="pt-BR" sz="1400" dirty="0"/>
              <a:t>, Must, </a:t>
            </a:r>
            <a:r>
              <a:rPr lang="pt-BR" sz="1400" dirty="0" err="1"/>
              <a:t>Auxsol</a:t>
            </a:r>
            <a:r>
              <a:rPr lang="pt-B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6243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A8755-CD74-7BBB-F9E3-ECA8E2B9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682D177-8F67-8C58-5278-CE16CB2659E5}"/>
              </a:ext>
            </a:extLst>
          </p:cNvPr>
          <p:cNvSpPr txBox="1"/>
          <p:nvPr/>
        </p:nvSpPr>
        <p:spPr>
          <a:xfrm>
            <a:off x="4876799" y="82725"/>
            <a:ext cx="3008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REGRAS DE PONTUÇÃO EMPRESAS</a:t>
            </a:r>
            <a:endParaRPr lang="pt-BR" sz="1400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FE6DAEA-0385-FD8A-7510-E46EE9543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336754"/>
              </p:ext>
            </p:extLst>
          </p:nvPr>
        </p:nvGraphicFramePr>
        <p:xfrm>
          <a:off x="501445" y="103234"/>
          <a:ext cx="11486534" cy="4687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951">
                  <a:extLst>
                    <a:ext uri="{9D8B030D-6E8A-4147-A177-3AD203B41FA5}">
                      <a16:colId xmlns:a16="http://schemas.microsoft.com/office/drawing/2014/main" val="2179393247"/>
                    </a:ext>
                  </a:extLst>
                </a:gridCol>
                <a:gridCol w="755259">
                  <a:extLst>
                    <a:ext uri="{9D8B030D-6E8A-4147-A177-3AD203B41FA5}">
                      <a16:colId xmlns:a16="http://schemas.microsoft.com/office/drawing/2014/main" val="704346513"/>
                    </a:ext>
                  </a:extLst>
                </a:gridCol>
                <a:gridCol w="813354">
                  <a:extLst>
                    <a:ext uri="{9D8B030D-6E8A-4147-A177-3AD203B41FA5}">
                      <a16:colId xmlns:a16="http://schemas.microsoft.com/office/drawing/2014/main" val="225712527"/>
                    </a:ext>
                  </a:extLst>
                </a:gridCol>
                <a:gridCol w="784307">
                  <a:extLst>
                    <a:ext uri="{9D8B030D-6E8A-4147-A177-3AD203B41FA5}">
                      <a16:colId xmlns:a16="http://schemas.microsoft.com/office/drawing/2014/main" val="2247626493"/>
                    </a:ext>
                  </a:extLst>
                </a:gridCol>
                <a:gridCol w="803673">
                  <a:extLst>
                    <a:ext uri="{9D8B030D-6E8A-4147-A177-3AD203B41FA5}">
                      <a16:colId xmlns:a16="http://schemas.microsoft.com/office/drawing/2014/main" val="2823337591"/>
                    </a:ext>
                  </a:extLst>
                </a:gridCol>
                <a:gridCol w="832720">
                  <a:extLst>
                    <a:ext uri="{9D8B030D-6E8A-4147-A177-3AD203B41FA5}">
                      <a16:colId xmlns:a16="http://schemas.microsoft.com/office/drawing/2014/main" val="2304289221"/>
                    </a:ext>
                  </a:extLst>
                </a:gridCol>
                <a:gridCol w="871451">
                  <a:extLst>
                    <a:ext uri="{9D8B030D-6E8A-4147-A177-3AD203B41FA5}">
                      <a16:colId xmlns:a16="http://schemas.microsoft.com/office/drawing/2014/main" val="2179572846"/>
                    </a:ext>
                  </a:extLst>
                </a:gridCol>
                <a:gridCol w="871451">
                  <a:extLst>
                    <a:ext uri="{9D8B030D-6E8A-4147-A177-3AD203B41FA5}">
                      <a16:colId xmlns:a16="http://schemas.microsoft.com/office/drawing/2014/main" val="3179127977"/>
                    </a:ext>
                  </a:extLst>
                </a:gridCol>
                <a:gridCol w="823038">
                  <a:extLst>
                    <a:ext uri="{9D8B030D-6E8A-4147-A177-3AD203B41FA5}">
                      <a16:colId xmlns:a16="http://schemas.microsoft.com/office/drawing/2014/main" val="4290895183"/>
                    </a:ext>
                  </a:extLst>
                </a:gridCol>
                <a:gridCol w="861769">
                  <a:extLst>
                    <a:ext uri="{9D8B030D-6E8A-4147-A177-3AD203B41FA5}">
                      <a16:colId xmlns:a16="http://schemas.microsoft.com/office/drawing/2014/main" val="327293670"/>
                    </a:ext>
                  </a:extLst>
                </a:gridCol>
                <a:gridCol w="823038">
                  <a:extLst>
                    <a:ext uri="{9D8B030D-6E8A-4147-A177-3AD203B41FA5}">
                      <a16:colId xmlns:a16="http://schemas.microsoft.com/office/drawing/2014/main" val="921691632"/>
                    </a:ext>
                  </a:extLst>
                </a:gridCol>
                <a:gridCol w="716523">
                  <a:extLst>
                    <a:ext uri="{9D8B030D-6E8A-4147-A177-3AD203B41FA5}">
                      <a16:colId xmlns:a16="http://schemas.microsoft.com/office/drawing/2014/main" val="4237540280"/>
                    </a:ext>
                  </a:extLst>
                </a:gridCol>
              </a:tblGrid>
              <a:tr h="571251">
                <a:tc>
                  <a:txBody>
                    <a:bodyPr/>
                    <a:lstStyle/>
                    <a:p>
                      <a:r>
                        <a:rPr lang="pt-BR" dirty="0"/>
                        <a:t>TECNOLOGIA: Itens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944785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Potência do inversor (kW)</a:t>
                      </a:r>
                    </a:p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82083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Garantia contra defeito do inversor (anos)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4 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6 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8 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10 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12 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15 anos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171578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Número de inversores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35466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Sobrecarga calculada (kWp / 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Abaixo</a:t>
                      </a:r>
                      <a:r>
                        <a:rPr lang="pt-BR" sz="1000" dirty="0"/>
                        <a:t> 1,00</a:t>
                      </a:r>
                    </a:p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1,05</a:t>
                      </a:r>
                    </a:p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1,10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1,15</a:t>
                      </a:r>
                    </a:p>
                    <a:p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1,20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1,30-1,40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72862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Sobrecarga calculada (kWp / 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+1,60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+1,55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+1,50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1,30-1,40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83271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Reclame Aqui - distribuidora de sistema solar fotovoltaico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Não recomendado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Ruim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Bom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Ótimo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RA 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01182"/>
                  </a:ext>
                </a:extLst>
              </a:tr>
              <a:tr h="732565">
                <a:tc>
                  <a:txBody>
                    <a:bodyPr/>
                    <a:lstStyle/>
                    <a:p>
                      <a:r>
                        <a:rPr lang="pt-BR" sz="1000" dirty="0"/>
                        <a:t>Reclame Aqui - fabricante de módulo fotovoltaico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Não recomendado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Ruim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Bom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Ótimo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RA 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80057"/>
                  </a:ext>
                </a:extLst>
              </a:tr>
              <a:tr h="475655">
                <a:tc>
                  <a:txBody>
                    <a:bodyPr/>
                    <a:lstStyle/>
                    <a:p>
                      <a:r>
                        <a:rPr lang="pt-BR" sz="1000" dirty="0"/>
                        <a:t>Reclame Aqui - fabricante de inversor de corrente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Não recomendado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Ruim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Bom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Ótimo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RA 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020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5628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0D47D16-5532-951C-1AA5-9823C1A03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507435"/>
              </p:ext>
            </p:extLst>
          </p:nvPr>
        </p:nvGraphicFramePr>
        <p:xfrm>
          <a:off x="474980" y="2115412"/>
          <a:ext cx="4980940" cy="461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72440">
                  <a:extLst>
                    <a:ext uri="{9D8B030D-6E8A-4147-A177-3AD203B41FA5}">
                      <a16:colId xmlns:a16="http://schemas.microsoft.com/office/drawing/2014/main" val="1503408176"/>
                    </a:ext>
                  </a:extLst>
                </a:gridCol>
                <a:gridCol w="608500">
                  <a:extLst>
                    <a:ext uri="{9D8B030D-6E8A-4147-A177-3AD203B41FA5}">
                      <a16:colId xmlns:a16="http://schemas.microsoft.com/office/drawing/2014/main" val="2258753927"/>
                    </a:ext>
                  </a:extLst>
                </a:gridCol>
              </a:tblGrid>
              <a:tr h="108373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400" kern="0" dirty="0">
                          <a:effectLst/>
                        </a:rPr>
                        <a:t>EMPRESAS</a:t>
                      </a:r>
                      <a:endParaRPr lang="pt-BR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453024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Critério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Peso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900980649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Atuação no ramo solar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10 %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523651583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Ano abertura empresa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4 %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76731381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CREA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9 %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799782657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Ano graduação engenheiro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9 %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536172276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Quantidade SFV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10 %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342648306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Equipe própria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10 %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628009456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Prazo instalação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5 %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377787229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Prazo garantia execução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15 %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382485304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Pos venda manutenção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10 %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882590079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Prazo assistência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5 %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323192089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Memorial e unifilar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5 %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501108264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Confiança vendedor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5 %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721588437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Reclame Aqui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3 %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4170333805"/>
                  </a:ext>
                </a:extLst>
              </a:tr>
              <a:tr h="2811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Total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100%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56946398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D975CD86-62D7-D1F3-1220-1A29426AD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257663"/>
              </p:ext>
            </p:extLst>
          </p:nvPr>
        </p:nvGraphicFramePr>
        <p:xfrm>
          <a:off x="6461933" y="2115412"/>
          <a:ext cx="5079509" cy="46484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90190">
                  <a:extLst>
                    <a:ext uri="{9D8B030D-6E8A-4147-A177-3AD203B41FA5}">
                      <a16:colId xmlns:a16="http://schemas.microsoft.com/office/drawing/2014/main" val="3045023485"/>
                    </a:ext>
                  </a:extLst>
                </a:gridCol>
                <a:gridCol w="1189319">
                  <a:extLst>
                    <a:ext uri="{9D8B030D-6E8A-4147-A177-3AD203B41FA5}">
                      <a16:colId xmlns:a16="http://schemas.microsoft.com/office/drawing/2014/main" val="3537750610"/>
                    </a:ext>
                  </a:extLst>
                </a:gridCol>
              </a:tblGrid>
              <a:tr h="35461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400" kern="0" dirty="0">
                          <a:effectLst/>
                        </a:rPr>
                        <a:t>TECNOLOGIAS</a:t>
                      </a:r>
                      <a:endParaRPr lang="pt-BR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735985"/>
                  </a:ext>
                </a:extLst>
              </a:tr>
              <a:tr h="3546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Critério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Peso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730963711"/>
                  </a:ext>
                </a:extLst>
              </a:tr>
              <a:tr h="3546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100" dirty="0">
                          <a:effectLst/>
                        </a:rPr>
                        <a:t>Marca módulo fotovoltaico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10 %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4247814909"/>
                  </a:ext>
                </a:extLst>
              </a:tr>
              <a:tr h="3546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100" dirty="0">
                          <a:effectLst/>
                        </a:rPr>
                        <a:t>Marca inversor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4 %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658201833"/>
                  </a:ext>
                </a:extLst>
              </a:tr>
              <a:tr h="3546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100" dirty="0">
                          <a:effectLst/>
                        </a:rPr>
                        <a:t>Geração anual proposta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9 %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0861484"/>
                  </a:ext>
                </a:extLst>
              </a:tr>
              <a:tr h="3546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100" dirty="0">
                          <a:effectLst/>
                        </a:rPr>
                        <a:t>Sobrecarga DC/AC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9 %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317765235"/>
                  </a:ext>
                </a:extLst>
              </a:tr>
              <a:tr h="3546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100" dirty="0">
                          <a:effectLst/>
                        </a:rPr>
                        <a:t>Garantia eficiência módulo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10 %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955726789"/>
                  </a:ext>
                </a:extLst>
              </a:tr>
              <a:tr h="3546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100">
                          <a:effectLst/>
                        </a:rPr>
                        <a:t>Garantia defeito módulo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10 %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448375888"/>
                  </a:ext>
                </a:extLst>
              </a:tr>
              <a:tr h="3546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100">
                          <a:effectLst/>
                        </a:rPr>
                        <a:t>Garantia defeito inversor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5 %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068292272"/>
                  </a:ext>
                </a:extLst>
              </a:tr>
              <a:tr h="3546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100">
                          <a:effectLst/>
                        </a:rPr>
                        <a:t>Reclame Aqui distribuidora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15 %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48943733"/>
                  </a:ext>
                </a:extLst>
              </a:tr>
              <a:tr h="3546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100">
                          <a:effectLst/>
                        </a:rPr>
                        <a:t>Reclame Aqui fabricante módulo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10 %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736058144"/>
                  </a:ext>
                </a:extLst>
              </a:tr>
              <a:tr h="3546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100">
                          <a:effectLst/>
                        </a:rPr>
                        <a:t>Reclame Aqui fabricante inversor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5 %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82569397"/>
                  </a:ext>
                </a:extLst>
              </a:tr>
              <a:tr h="3546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>
                          <a:effectLst/>
                        </a:rPr>
                        <a:t>Total</a:t>
                      </a:r>
                      <a:endParaRPr lang="pt-BR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0" dirty="0">
                          <a:effectLst/>
                        </a:rPr>
                        <a:t>100%</a:t>
                      </a:r>
                      <a:endParaRPr lang="pt-BR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739085731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94174451-BE0E-FAF9-8BB2-D9B76668DC0F}"/>
              </a:ext>
            </a:extLst>
          </p:cNvPr>
          <p:cNvSpPr txBox="1"/>
          <p:nvPr/>
        </p:nvSpPr>
        <p:spPr>
          <a:xfrm>
            <a:off x="796740" y="94143"/>
            <a:ext cx="10146892" cy="181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FORMULA MATEMÁTICA PARA APLICAÇÃO DOS PESOS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melhor forma de aplicar a ponderação percentual é transformar a nota de cada critério (0 a 10) em uma contribuição proporcional ao peso daquele critério.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fórmula é simples:</a:t>
            </a:r>
          </a:p>
          <a:p>
            <a:r>
              <a:rPr lang="pt-BR" sz="1400" dirty="0"/>
              <a:t>Aplicar a fórmula matemática a cada critério com os pesos comunicado no slide anterior.</a:t>
            </a:r>
          </a:p>
          <a:p>
            <a:r>
              <a:rPr lang="pt-BR" sz="1400" dirty="0"/>
              <a:t>O objetivo é que as tabelas </a:t>
            </a:r>
            <a:r>
              <a:rPr lang="pt-BR" sz="1400" b="1" dirty="0"/>
              <a:t>EMPRESA,</a:t>
            </a:r>
            <a:r>
              <a:rPr lang="pt-BR" sz="1400" dirty="0"/>
              <a:t> </a:t>
            </a:r>
            <a:r>
              <a:rPr lang="pt-BR" sz="1400" b="1" dirty="0"/>
              <a:t>TECNOLOGIA e PONTUAÇÃO GERAL</a:t>
            </a:r>
            <a:r>
              <a:rPr lang="pt-BR" sz="1400" dirty="0"/>
              <a:t> já exibam os valores ponderados.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35C9740-60D6-BEB0-62C2-FFC926141A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98" t="34365" r="16043" b="57609"/>
          <a:stretch>
            <a:fillRect/>
          </a:stretch>
        </p:blipFill>
        <p:spPr bwMode="auto">
          <a:xfrm>
            <a:off x="3460955" y="795717"/>
            <a:ext cx="5855693" cy="68142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30259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9C82DDD-E133-BF23-FDE4-A513581FFDDA}"/>
              </a:ext>
            </a:extLst>
          </p:cNvPr>
          <p:cNvSpPr txBox="1"/>
          <p:nvPr/>
        </p:nvSpPr>
        <p:spPr>
          <a:xfrm>
            <a:off x="1032469" y="4525189"/>
            <a:ext cx="101468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2000" dirty="0"/>
          </a:p>
          <a:p>
            <a:r>
              <a:rPr lang="pt-BR" sz="2000" dirty="0"/>
              <a:t>Observação:  </a:t>
            </a:r>
            <a:r>
              <a:rPr lang="pt-BR" sz="1400" dirty="0"/>
              <a:t>a </a:t>
            </a:r>
            <a:r>
              <a:rPr lang="pt-BR" sz="1400" b="1" dirty="0"/>
              <a:t>PONTUAÇÃO AUTOMÁTICA</a:t>
            </a:r>
            <a:r>
              <a:rPr lang="pt-BR" sz="1400" dirty="0"/>
              <a:t> deve ser o padrão principal do plataforma. Caso o usuário prefira pontuar manualmente, ele mesmo deverá clicar no botão </a:t>
            </a:r>
            <a:r>
              <a:rPr lang="pt-BR" sz="1400" b="1" dirty="0"/>
              <a:t>MANUAL</a:t>
            </a:r>
            <a:r>
              <a:rPr lang="pt-BR" sz="1400" dirty="0"/>
              <a:t> para alterar essa configuração."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1B41947-A3AE-D14F-AF28-E79C5340F1DA}"/>
              </a:ext>
            </a:extLst>
          </p:cNvPr>
          <p:cNvSpPr txBox="1"/>
          <p:nvPr/>
        </p:nvSpPr>
        <p:spPr>
          <a:xfrm>
            <a:off x="1101296" y="111687"/>
            <a:ext cx="4886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Reorganizar assim os botões Automático / Manual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BD35096-A30F-3D4A-E967-8AA7645A5E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87" t="24661" r="4516" b="32659"/>
          <a:stretch>
            <a:fillRect/>
          </a:stretch>
        </p:blipFill>
        <p:spPr>
          <a:xfrm>
            <a:off x="1101296" y="1720646"/>
            <a:ext cx="10009238" cy="29269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B9B697AA-C368-134C-AB09-29897F98EA2A}"/>
              </a:ext>
            </a:extLst>
          </p:cNvPr>
          <p:cNvSpPr txBox="1"/>
          <p:nvPr/>
        </p:nvSpPr>
        <p:spPr>
          <a:xfrm>
            <a:off x="1321883" y="2745335"/>
            <a:ext cx="6390968" cy="43880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pt-BR" sz="10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BD7FC2F-9163-6A8D-B822-E1323F833E03}"/>
              </a:ext>
            </a:extLst>
          </p:cNvPr>
          <p:cNvSpPr txBox="1"/>
          <p:nvPr/>
        </p:nvSpPr>
        <p:spPr>
          <a:xfrm>
            <a:off x="1604772" y="584143"/>
            <a:ext cx="236423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FFFF"/>
                </a:solidFill>
              </a:rPr>
              <a:t>Pontuação Automática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B9356D8-AFE1-FDCE-67CB-86CC853830F0}"/>
              </a:ext>
            </a:extLst>
          </p:cNvPr>
          <p:cNvSpPr txBox="1"/>
          <p:nvPr/>
        </p:nvSpPr>
        <p:spPr>
          <a:xfrm>
            <a:off x="4262417" y="565189"/>
            <a:ext cx="20274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/>
              <a:t>Pontuação Manual</a:t>
            </a:r>
            <a:r>
              <a:rPr lang="pt-BR" sz="1000" dirty="0"/>
              <a:t>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B094838-AD05-DAC7-97BB-5A1CB7FD249F}"/>
              </a:ext>
            </a:extLst>
          </p:cNvPr>
          <p:cNvSpPr txBox="1"/>
          <p:nvPr/>
        </p:nvSpPr>
        <p:spPr>
          <a:xfrm>
            <a:off x="1604772" y="981319"/>
            <a:ext cx="2230098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000" dirty="0"/>
              <a:t>As notas são geradas automaticamente</a:t>
            </a:r>
          </a:p>
          <a:p>
            <a:r>
              <a:rPr lang="pt-BR" sz="1000" dirty="0"/>
              <a:t>A partir dos dados fornecidos por você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1C63539-5BA7-596F-4402-419A4EF7FEB6}"/>
              </a:ext>
            </a:extLst>
          </p:cNvPr>
          <p:cNvSpPr txBox="1"/>
          <p:nvPr/>
        </p:nvSpPr>
        <p:spPr>
          <a:xfrm>
            <a:off x="4322208" y="950572"/>
            <a:ext cx="190789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000" dirty="0"/>
              <a:t>Você atribua suas próprias notas 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3F1F7643-8CAF-47EA-FADA-B3F026461808}"/>
              </a:ext>
            </a:extLst>
          </p:cNvPr>
          <p:cNvCxnSpPr>
            <a:cxnSpLocks/>
          </p:cNvCxnSpPr>
          <p:nvPr/>
        </p:nvCxnSpPr>
        <p:spPr>
          <a:xfrm>
            <a:off x="4109884" y="681008"/>
            <a:ext cx="18394" cy="206432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2402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3724</TotalTime>
  <Words>1496</Words>
  <Application>Microsoft Office PowerPoint</Application>
  <PresentationFormat>Widescreen</PresentationFormat>
  <Paragraphs>487</Paragraphs>
  <Slides>12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 POLONI</dc:creator>
  <cp:lastModifiedBy>FRANCIS POLONI</cp:lastModifiedBy>
  <cp:revision>119</cp:revision>
  <cp:lastPrinted>2026-06-09T14:09:08Z</cp:lastPrinted>
  <dcterms:created xsi:type="dcterms:W3CDTF">2026-06-01T12:19:48Z</dcterms:created>
  <dcterms:modified xsi:type="dcterms:W3CDTF">2026-06-09T22:15:25Z</dcterms:modified>
</cp:coreProperties>
</file>